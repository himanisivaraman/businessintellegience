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6" r:id="rId1"/>
  </p:sldMasterIdLst>
  <p:notesMasterIdLst>
    <p:notesMasterId r:id="rId5"/>
  </p:notesMasterIdLst>
  <p:sldIdLst>
    <p:sldId id="256" r:id="rId2"/>
    <p:sldId id="257" r:id="rId3"/>
    <p:sldId id="258"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3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1D989B-4B51-4C8C-BDE3-7D52B7297571}" type="datetimeFigureOut">
              <a:rPr lang="en-IN" smtClean="0"/>
              <a:t>28-07-2026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F84E9B-4644-4386-AA17-27A93DAEDA33}" type="slidenum">
              <a:rPr lang="en-IN" smtClean="0"/>
              <a:t>‹#›</a:t>
            </a:fld>
            <a:endParaRPr lang="en-IN"/>
          </a:p>
        </p:txBody>
      </p:sp>
    </p:spTree>
    <p:extLst>
      <p:ext uri="{BB962C8B-B14F-4D97-AF65-F5344CB8AC3E}">
        <p14:creationId xmlns:p14="http://schemas.microsoft.com/office/powerpoint/2010/main" val="1212888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E295B60-5C41-482B-80AE-00FF31BE6EA1}" type="datetimeFigureOut">
              <a:rPr lang="en-IN" smtClean="0"/>
              <a:t>28-07-2026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BA14174-5F44-4779-9638-740A9F504925}"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21155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295B60-5C41-482B-80AE-00FF31BE6EA1}" type="datetimeFigureOut">
              <a:rPr lang="en-IN" smtClean="0"/>
              <a:t>28-07-2026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BA14174-5F44-4779-9638-740A9F504925}" type="slidenum">
              <a:rPr lang="en-IN" smtClean="0"/>
              <a:t>‹#›</a:t>
            </a:fld>
            <a:endParaRPr lang="en-IN"/>
          </a:p>
        </p:txBody>
      </p:sp>
    </p:spTree>
    <p:extLst>
      <p:ext uri="{BB962C8B-B14F-4D97-AF65-F5344CB8AC3E}">
        <p14:creationId xmlns:p14="http://schemas.microsoft.com/office/powerpoint/2010/main" val="184517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295B60-5C41-482B-80AE-00FF31BE6EA1}" type="datetimeFigureOut">
              <a:rPr lang="en-IN" smtClean="0"/>
              <a:t>28-07-2026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BA14174-5F44-4779-9638-740A9F504925}"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2313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E295B60-5C41-482B-80AE-00FF31BE6EA1}" type="datetimeFigureOut">
              <a:rPr lang="en-IN" smtClean="0"/>
              <a:t>28-07-2026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BA14174-5F44-4779-9638-740A9F504925}" type="slidenum">
              <a:rPr lang="en-IN" smtClean="0"/>
              <a:t>‹#›</a:t>
            </a:fld>
            <a:endParaRPr lang="en-IN"/>
          </a:p>
        </p:txBody>
      </p:sp>
    </p:spTree>
    <p:extLst>
      <p:ext uri="{BB962C8B-B14F-4D97-AF65-F5344CB8AC3E}">
        <p14:creationId xmlns:p14="http://schemas.microsoft.com/office/powerpoint/2010/main" val="39553962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E295B60-5C41-482B-80AE-00FF31BE6EA1}" type="datetimeFigureOut">
              <a:rPr lang="en-IN" smtClean="0"/>
              <a:t>28-07-2026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BA14174-5F44-4779-9638-740A9F504925}" type="slidenum">
              <a:rPr lang="en-IN" smtClean="0"/>
              <a:t>‹#›</a:t>
            </a:fld>
            <a:endParaRPr lang="en-IN"/>
          </a:p>
        </p:txBody>
      </p:sp>
    </p:spTree>
    <p:extLst>
      <p:ext uri="{BB962C8B-B14F-4D97-AF65-F5344CB8AC3E}">
        <p14:creationId xmlns:p14="http://schemas.microsoft.com/office/powerpoint/2010/main" val="1855178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E295B60-5C41-482B-80AE-00FF31BE6EA1}" type="datetimeFigureOut">
              <a:rPr lang="en-IN" smtClean="0"/>
              <a:t>28-07-2026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BA14174-5F44-4779-9638-740A9F504925}" type="slidenum">
              <a:rPr lang="en-IN" smtClean="0"/>
              <a:t>‹#›</a:t>
            </a:fld>
            <a:endParaRPr lang="en-IN"/>
          </a:p>
        </p:txBody>
      </p:sp>
    </p:spTree>
    <p:extLst>
      <p:ext uri="{BB962C8B-B14F-4D97-AF65-F5344CB8AC3E}">
        <p14:creationId xmlns:p14="http://schemas.microsoft.com/office/powerpoint/2010/main" val="13303457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E295B60-5C41-482B-80AE-00FF31BE6EA1}" type="datetimeFigureOut">
              <a:rPr lang="en-IN" smtClean="0"/>
              <a:t>28-07-2026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4BA14174-5F44-4779-9638-740A9F504925}" type="slidenum">
              <a:rPr lang="en-IN" smtClean="0"/>
              <a:t>‹#›</a:t>
            </a:fld>
            <a:endParaRPr lang="en-IN"/>
          </a:p>
        </p:txBody>
      </p:sp>
    </p:spTree>
    <p:extLst>
      <p:ext uri="{BB962C8B-B14F-4D97-AF65-F5344CB8AC3E}">
        <p14:creationId xmlns:p14="http://schemas.microsoft.com/office/powerpoint/2010/main" val="31987150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E295B60-5C41-482B-80AE-00FF31BE6EA1}" type="datetimeFigureOut">
              <a:rPr lang="en-IN" smtClean="0"/>
              <a:t>28-07-2026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BA14174-5F44-4779-9638-740A9F504925}" type="slidenum">
              <a:rPr lang="en-IN" smtClean="0"/>
              <a:t>‹#›</a:t>
            </a:fld>
            <a:endParaRPr lang="en-IN"/>
          </a:p>
        </p:txBody>
      </p:sp>
    </p:spTree>
    <p:extLst>
      <p:ext uri="{BB962C8B-B14F-4D97-AF65-F5344CB8AC3E}">
        <p14:creationId xmlns:p14="http://schemas.microsoft.com/office/powerpoint/2010/main" val="2148922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295B60-5C41-482B-80AE-00FF31BE6EA1}" type="datetimeFigureOut">
              <a:rPr lang="en-IN" smtClean="0"/>
              <a:t>28-07-2026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BA14174-5F44-4779-9638-740A9F504925}" type="slidenum">
              <a:rPr lang="en-IN" smtClean="0"/>
              <a:t>‹#›</a:t>
            </a:fld>
            <a:endParaRPr lang="en-IN"/>
          </a:p>
        </p:txBody>
      </p:sp>
    </p:spTree>
    <p:extLst>
      <p:ext uri="{BB962C8B-B14F-4D97-AF65-F5344CB8AC3E}">
        <p14:creationId xmlns:p14="http://schemas.microsoft.com/office/powerpoint/2010/main" val="393912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295B60-5C41-482B-80AE-00FF31BE6EA1}" type="datetimeFigureOut">
              <a:rPr lang="en-IN" smtClean="0"/>
              <a:t>28-07-2026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BA14174-5F44-4779-9638-740A9F504925}" type="slidenum">
              <a:rPr lang="en-IN" smtClean="0"/>
              <a:t>‹#›</a:t>
            </a:fld>
            <a:endParaRPr lang="en-IN"/>
          </a:p>
        </p:txBody>
      </p:sp>
    </p:spTree>
    <p:extLst>
      <p:ext uri="{BB962C8B-B14F-4D97-AF65-F5344CB8AC3E}">
        <p14:creationId xmlns:p14="http://schemas.microsoft.com/office/powerpoint/2010/main" val="12426747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295B60-5C41-482B-80AE-00FF31BE6EA1}" type="datetimeFigureOut">
              <a:rPr lang="en-IN" smtClean="0"/>
              <a:t>28-07-2026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BA14174-5F44-4779-9638-740A9F504925}" type="slidenum">
              <a:rPr lang="en-IN" smtClean="0"/>
              <a:t>‹#›</a:t>
            </a:fld>
            <a:endParaRPr lang="en-IN"/>
          </a:p>
        </p:txBody>
      </p:sp>
    </p:spTree>
    <p:extLst>
      <p:ext uri="{BB962C8B-B14F-4D97-AF65-F5344CB8AC3E}">
        <p14:creationId xmlns:p14="http://schemas.microsoft.com/office/powerpoint/2010/main" val="1491092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E295B60-5C41-482B-80AE-00FF31BE6EA1}" type="datetimeFigureOut">
              <a:rPr lang="en-IN" smtClean="0"/>
              <a:t>28-07-2026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BA14174-5F44-4779-9638-740A9F504925}"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6632288"/>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4CBDA-A6B5-FAFC-4154-81598623830D}"/>
              </a:ext>
            </a:extLst>
          </p:cNvPr>
          <p:cNvSpPr>
            <a:spLocks noGrp="1"/>
          </p:cNvSpPr>
          <p:nvPr>
            <p:ph type="ctrTitle"/>
          </p:nvPr>
        </p:nvSpPr>
        <p:spPr>
          <a:xfrm>
            <a:off x="1097280" y="714375"/>
            <a:ext cx="6203633" cy="3629025"/>
          </a:xfrm>
        </p:spPr>
        <p:txBody>
          <a:bodyPr>
            <a:normAutofit/>
          </a:bodyPr>
          <a:lstStyle/>
          <a:p>
            <a:r>
              <a:rPr lang="en-IN" dirty="0"/>
              <a:t>BUSINESS DECISION INTELLIGENCE</a:t>
            </a:r>
          </a:p>
        </p:txBody>
      </p:sp>
      <p:sp>
        <p:nvSpPr>
          <p:cNvPr id="3" name="Subtitle 2">
            <a:extLst>
              <a:ext uri="{FF2B5EF4-FFF2-40B4-BE49-F238E27FC236}">
                <a16:creationId xmlns:a16="http://schemas.microsoft.com/office/drawing/2014/main" id="{44AFB81D-C6B2-C593-37D6-0F2B75C753D5}"/>
              </a:ext>
            </a:extLst>
          </p:cNvPr>
          <p:cNvSpPr>
            <a:spLocks noGrp="1"/>
          </p:cNvSpPr>
          <p:nvPr>
            <p:ph type="subTitle" idx="1"/>
          </p:nvPr>
        </p:nvSpPr>
        <p:spPr/>
        <p:txBody>
          <a:bodyPr/>
          <a:lstStyle/>
          <a:p>
            <a:r>
              <a:rPr lang="en-IN" dirty="0"/>
              <a:t>Dr Himani</a:t>
            </a:r>
          </a:p>
        </p:txBody>
      </p:sp>
      <p:pic>
        <p:nvPicPr>
          <p:cNvPr id="2050" name="Picture 2" descr="How to Develop an Effective Business Intelligence Strategy?">
            <a:extLst>
              <a:ext uri="{FF2B5EF4-FFF2-40B4-BE49-F238E27FC236}">
                <a16:creationId xmlns:a16="http://schemas.microsoft.com/office/drawing/2014/main" id="{F9090B03-BD0A-4320-19AD-F14AFD9931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91425" y="909795"/>
            <a:ext cx="4214811" cy="2633505"/>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Driving Business Growth with Business Intelligence to Unlock Key Insights">
            <a:extLst>
              <a:ext uri="{FF2B5EF4-FFF2-40B4-BE49-F238E27FC236}">
                <a16:creationId xmlns:a16="http://schemas.microsoft.com/office/drawing/2014/main" id="{30E6216F-DB40-4BA2-CDDF-ADB841306D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75824" y="4097976"/>
            <a:ext cx="3330412" cy="1850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61624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1E95F-4BC9-E721-B092-021479E1AF56}"/>
              </a:ext>
            </a:extLst>
          </p:cNvPr>
          <p:cNvSpPr>
            <a:spLocks noGrp="1"/>
          </p:cNvSpPr>
          <p:nvPr>
            <p:ph type="title"/>
          </p:nvPr>
        </p:nvSpPr>
        <p:spPr>
          <a:xfrm>
            <a:off x="1097280" y="286604"/>
            <a:ext cx="8161020" cy="1356460"/>
          </a:xfrm>
        </p:spPr>
        <p:txBody>
          <a:bodyPr/>
          <a:lstStyle/>
          <a:p>
            <a:r>
              <a:rPr lang="en-IN" dirty="0"/>
              <a:t>Business intelligence</a:t>
            </a:r>
            <a:br>
              <a:rPr lang="en-IN" dirty="0"/>
            </a:br>
            <a:endParaRPr lang="en-IN" dirty="0"/>
          </a:p>
        </p:txBody>
      </p:sp>
      <p:sp>
        <p:nvSpPr>
          <p:cNvPr id="3" name="Content Placeholder 2">
            <a:extLst>
              <a:ext uri="{FF2B5EF4-FFF2-40B4-BE49-F238E27FC236}">
                <a16:creationId xmlns:a16="http://schemas.microsoft.com/office/drawing/2014/main" id="{33B1D7B7-7729-3CD1-2823-D26835A239CD}"/>
              </a:ext>
            </a:extLst>
          </p:cNvPr>
          <p:cNvSpPr>
            <a:spLocks noGrp="1"/>
          </p:cNvSpPr>
          <p:nvPr>
            <p:ph idx="1"/>
          </p:nvPr>
        </p:nvSpPr>
        <p:spPr>
          <a:xfrm>
            <a:off x="1097280" y="1845734"/>
            <a:ext cx="6360795" cy="4569354"/>
          </a:xfrm>
        </p:spPr>
        <p:txBody>
          <a:bodyPr>
            <a:normAutofit lnSpcReduction="10000"/>
          </a:bodyPr>
          <a:lstStyle/>
          <a:p>
            <a:pPr marL="0" indent="0">
              <a:buNone/>
            </a:pPr>
            <a:r>
              <a:rPr lang="en-IN" dirty="0"/>
              <a:t>According to Wikipedia “</a:t>
            </a:r>
            <a:r>
              <a:rPr lang="en-US" dirty="0"/>
              <a:t> consists of strategies, methodologies, and technologies used by enterprises for data analysis and management of business information to inform business strategies and business operations”</a:t>
            </a:r>
          </a:p>
          <a:p>
            <a:pPr marL="0" indent="0">
              <a:buNone/>
            </a:pPr>
            <a:r>
              <a:rPr lang="en-US" dirty="0"/>
              <a:t>According to Solomon Negash and Paul Gray, business intelligence (BI) can be defined as systems that combine:</a:t>
            </a:r>
          </a:p>
          <a:p>
            <a:r>
              <a:rPr lang="en-US" dirty="0"/>
              <a:t>Data gathering</a:t>
            </a:r>
          </a:p>
          <a:p>
            <a:r>
              <a:rPr lang="en-US" dirty="0"/>
              <a:t>Data storage</a:t>
            </a:r>
          </a:p>
          <a:p>
            <a:r>
              <a:rPr lang="en-US" dirty="0"/>
              <a:t>Knowledge management</a:t>
            </a:r>
          </a:p>
          <a:p>
            <a:pPr marL="0" indent="0">
              <a:buNone/>
            </a:pPr>
            <a:r>
              <a:rPr lang="en-US" dirty="0"/>
              <a:t>with analysis to evaluate complex corporate and competitive information for presentation to planners and decision makers, with the objective of improving the timeliness and the quality of the input to the decision process.</a:t>
            </a:r>
          </a:p>
          <a:p>
            <a:pPr marL="0" indent="0">
              <a:buNone/>
            </a:pPr>
            <a:endParaRPr lang="en-IN" dirty="0"/>
          </a:p>
        </p:txBody>
      </p:sp>
      <p:pic>
        <p:nvPicPr>
          <p:cNvPr id="1026" name="Picture 2" descr="Mastering Business Intelligence: Comprehensive Guide to Concepts, Components, Techniques, and Examples | by Nilimesh Halder, PhD | Analyst's corner | Medium">
            <a:extLst>
              <a:ext uri="{FF2B5EF4-FFF2-40B4-BE49-F238E27FC236}">
                <a16:creationId xmlns:a16="http://schemas.microsoft.com/office/drawing/2014/main" id="{49F887FD-A5CE-01D5-E17E-715FD861F9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8075" y="1494473"/>
            <a:ext cx="4580783" cy="45807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80932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FDD4A-7D33-BF0B-439A-1FA2A0675AAA}"/>
              </a:ext>
            </a:extLst>
          </p:cNvPr>
          <p:cNvSpPr>
            <a:spLocks noGrp="1"/>
          </p:cNvSpPr>
          <p:nvPr>
            <p:ph type="title"/>
          </p:nvPr>
        </p:nvSpPr>
        <p:spPr/>
        <p:txBody>
          <a:bodyPr/>
          <a:lstStyle/>
          <a:p>
            <a:r>
              <a:rPr lang="en-IN" dirty="0"/>
              <a:t>Business Intelligence</a:t>
            </a:r>
          </a:p>
        </p:txBody>
      </p:sp>
      <p:sp>
        <p:nvSpPr>
          <p:cNvPr id="3" name="Content Placeholder 2">
            <a:extLst>
              <a:ext uri="{FF2B5EF4-FFF2-40B4-BE49-F238E27FC236}">
                <a16:creationId xmlns:a16="http://schemas.microsoft.com/office/drawing/2014/main" id="{B26DDBB0-4020-7F6D-BD5B-57AF3F52FD7D}"/>
              </a:ext>
            </a:extLst>
          </p:cNvPr>
          <p:cNvSpPr>
            <a:spLocks noGrp="1"/>
          </p:cNvSpPr>
          <p:nvPr>
            <p:ph idx="1"/>
          </p:nvPr>
        </p:nvSpPr>
        <p:spPr/>
        <p:txBody>
          <a:bodyPr>
            <a:normAutofit lnSpcReduction="10000"/>
          </a:bodyPr>
          <a:lstStyle/>
          <a:p>
            <a:r>
              <a:rPr lang="en-US" dirty="0"/>
              <a:t>Business intelligence refers to a collection of mathematical models and analysis methods that utilize data to produce valuable information and insight for making important decisions.</a:t>
            </a:r>
          </a:p>
          <a:p>
            <a:pPr fontAlgn="base"/>
            <a:r>
              <a:rPr lang="en-US" b="1" dirty="0"/>
              <a:t>Main Components of Business Intelligence System:</a:t>
            </a:r>
            <a:endParaRPr lang="en-US" dirty="0"/>
          </a:p>
          <a:p>
            <a:pPr fontAlgn="base"/>
            <a:br>
              <a:rPr lang="en-US" dirty="0"/>
            </a:br>
            <a:r>
              <a:rPr lang="en-US" dirty="0"/>
              <a:t>1.Data Source</a:t>
            </a:r>
          </a:p>
          <a:p>
            <a:pPr fontAlgn="base"/>
            <a:r>
              <a:rPr lang="en-US" dirty="0"/>
              <a:t>2.Data Mart / Data Warehouse</a:t>
            </a:r>
          </a:p>
          <a:p>
            <a:pPr fontAlgn="base"/>
            <a:r>
              <a:rPr lang="en-US" dirty="0"/>
              <a:t>3.Data Exploration</a:t>
            </a:r>
          </a:p>
          <a:p>
            <a:pPr fontAlgn="base"/>
            <a:r>
              <a:rPr lang="en-US" dirty="0"/>
              <a:t>4.Data Mining</a:t>
            </a:r>
          </a:p>
          <a:p>
            <a:pPr fontAlgn="base"/>
            <a:r>
              <a:rPr lang="en-US" dirty="0"/>
              <a:t>5.Optimization</a:t>
            </a:r>
          </a:p>
          <a:p>
            <a:pPr fontAlgn="base"/>
            <a:r>
              <a:rPr lang="en-US" dirty="0"/>
              <a:t>6.Decisions</a:t>
            </a:r>
          </a:p>
          <a:p>
            <a:endParaRPr lang="en-IN" dirty="0"/>
          </a:p>
        </p:txBody>
      </p:sp>
      <p:pic>
        <p:nvPicPr>
          <p:cNvPr id="4" name="Picture 2" descr="Driving Business Growth with Business Intelligence to Unlock Key Insights">
            <a:extLst>
              <a:ext uri="{FF2B5EF4-FFF2-40B4-BE49-F238E27FC236}">
                <a16:creationId xmlns:a16="http://schemas.microsoft.com/office/drawing/2014/main" id="{AB49D014-6756-FD87-D76D-46A33AEBE6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47199" y="86866"/>
            <a:ext cx="2725576" cy="15142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3593367"/>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TM02900769[[fn=Retrospect]]</Template>
  <TotalTime>27</TotalTime>
  <Words>162</Words>
  <Application>Microsoft Office PowerPoint</Application>
  <PresentationFormat>Widescreen</PresentationFormat>
  <Paragraphs>18</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Retrospect</vt:lpstr>
      <vt:lpstr>BUSINESS DECISION INTELLIGENCE</vt:lpstr>
      <vt:lpstr>Business intelligence </vt:lpstr>
      <vt:lpstr>Business Intelligence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Atharva sivaraman</dc:creator>
  <cp:lastModifiedBy>Atharva sivaraman</cp:lastModifiedBy>
  <cp:revision>1</cp:revision>
  <dcterms:created xsi:type="dcterms:W3CDTF">2026-07-28T04:46:01Z</dcterms:created>
  <dcterms:modified xsi:type="dcterms:W3CDTF">2026-07-28T05:13:16Z</dcterms:modified>
</cp:coreProperties>
</file>